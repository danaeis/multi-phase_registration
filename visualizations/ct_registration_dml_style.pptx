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685800" cy="685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37160"/>
            <a:ext cx="73152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600" y="10515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Multi-Phase CT Registration Pipeline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737360"/>
            <a:ext cx="8595360" cy="0"/>
          </a:xfrm>
          <a:prstGeom prst="line">
            <a:avLst/>
          </a:prstGeom>
          <a:noFill/>
          <a:ln w="25400">
            <a:solidFill>
              <a:srgbClr val="EB801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286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&amp; Machine Learning Lab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286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Sharif University of Technology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2860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0292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Motivation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12070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Dataset 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72821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Registration Pipeline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2494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Z-Alignment Method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7706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Rigid Registration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Deformable Registration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38130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Evaluation Metrics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" y="433425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Future Work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2679192"/>
            <a:ext cx="1097280" cy="0"/>
          </a:xfrm>
          <a:prstGeom prst="line">
            <a:avLst/>
          </a:prstGeom>
          <a:noFill/>
          <a:ln w="50800">
            <a:solidFill>
              <a:srgbClr val="EB8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679192"/>
            <a:ext cx="37490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Generate Contrast-Enhanced CT (CECT) from Non-Contrast CT (NCCT)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107899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</a:rPr>
              <a:t>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10789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Non-contrast CT</a:t>
            </a:r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are hard to directly segment — contrast helps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55448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</a:rPr>
              <a:t>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15544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phases</a:t>
            </a:r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not always available due to clinical or cost constraints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029968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</a:rPr>
              <a:t>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202996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</a:t>
            </a:r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trained on NCCT→CECT require well-aligned multi-phase pairs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331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found in practice: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27889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9808" y="27706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available multi-phase CT datasets have unregistered, misaligned phases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32461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9808" y="32278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acquired at different table positions — Z-coverage does not match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5760" y="37033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9808" y="3685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HU intensity differences between phases (NCCT ≠ CECT)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41605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49808" y="41422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registration metrics (MMI, NCC) are not valid across contrast phases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2679192"/>
            <a:ext cx="1097280" cy="0"/>
          </a:xfrm>
          <a:prstGeom prst="line">
            <a:avLst/>
          </a:prstGeom>
          <a:noFill/>
          <a:ln w="50800">
            <a:solidFill>
              <a:srgbClr val="EB8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679192"/>
            <a:ext cx="37490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808" y="594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VinDr multi-phase abdominal CT dataset — phase labels provided per study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078992"/>
            <a:ext cx="2743200" cy="1051560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1155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6576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per study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3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· Arterial · Venous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1078992"/>
            <a:ext cx="2743200" cy="1051560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1155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~265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29184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9184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3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scanner sessions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0" y="1078992"/>
            <a:ext cx="2743200" cy="1051560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11155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mm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217920" y="1572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Isotropic target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1792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3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resampling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Vindr_ds characteristics: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" y="274320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</a:rPr>
              <a:t>-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152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DICOMs provided with phase labels per SeriesInstanceUID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" y="3182112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</a:rPr>
              <a:t>-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" y="31821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phases: non-contrast, arterial, venous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" y="362102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</a:rPr>
              <a:t>-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31520" y="362102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scanner models → different HU baselines across studies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2920" y="4059936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</a:rPr>
              <a:t>-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" y="405993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to LPS orientation and isotropic 1.5 mm spacing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2679192"/>
            <a:ext cx="1097280" cy="0"/>
          </a:xfrm>
          <a:prstGeom prst="line">
            <a:avLst/>
          </a:prstGeom>
          <a:noFill/>
          <a:ln w="50800">
            <a:solidFill>
              <a:srgbClr val="EB8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679192"/>
            <a:ext cx="37490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Pipeline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2743200"/>
            <a:ext cx="8595360" cy="0"/>
          </a:xfrm>
          <a:prstGeom prst="line">
            <a:avLst/>
          </a:prstGeom>
          <a:noFill/>
          <a:ln w="38100">
            <a:solidFill>
              <a:srgbClr val="1B786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2651760"/>
            <a:ext cx="182880" cy="182880"/>
          </a:xfrm>
          <a:prstGeom prst="ellipse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960120"/>
            <a:ext cx="1554480" cy="1572768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005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 orientation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1.5mm isotropic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clip [−1024,+1024]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97280" y="2532888"/>
            <a:ext cx="0" cy="210312"/>
          </a:xfrm>
          <a:prstGeom prst="line">
            <a:avLst/>
          </a:prstGeom>
          <a:noFill/>
          <a:ln w="19050">
            <a:solidFill>
              <a:srgbClr val="1B78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8803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NIfTI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05840" y="3456432"/>
            <a:ext cx="274320" cy="274320"/>
          </a:xfrm>
          <a:prstGeom prst="ellipse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456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97480" y="2651760"/>
            <a:ext cx="182880" cy="182880"/>
          </a:xfrm>
          <a:prstGeom prst="ellipse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48840" y="960120"/>
            <a:ext cx="1554480" cy="1572768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94560" y="1005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TotalSegmentator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seg_full + seg_reg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mask output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88920" y="2532888"/>
            <a:ext cx="0" cy="210312"/>
          </a:xfrm>
          <a:prstGeom prst="line">
            <a:avLst/>
          </a:prstGeom>
          <a:noFill/>
          <a:ln w="19050">
            <a:solidFill>
              <a:srgbClr val="1B78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48840" y="28803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697480" y="3456432"/>
            <a:ext cx="274320" cy="274320"/>
          </a:xfrm>
          <a:prstGeom prst="ellipse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7480" y="3456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89120" y="2651760"/>
            <a:ext cx="182880" cy="182880"/>
          </a:xfrm>
          <a:prstGeom prst="ellipse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40480" y="960120"/>
            <a:ext cx="1554480" cy="1572768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1005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organ centroid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 outlier filter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480560" y="2532888"/>
            <a:ext cx="0" cy="210312"/>
          </a:xfrm>
          <a:prstGeom prst="line">
            <a:avLst/>
          </a:prstGeom>
          <a:noFill/>
          <a:ln w="19050">
            <a:solidFill>
              <a:srgbClr val="1B786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0" y="28803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Z-Alignment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(v3)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89120" y="3456432"/>
            <a:ext cx="274320" cy="274320"/>
          </a:xfrm>
          <a:prstGeom prst="ellipse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0" y="3456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80760" y="2651760"/>
            <a:ext cx="182880" cy="182880"/>
          </a:xfrm>
          <a:prstGeom prst="ellipse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960120"/>
            <a:ext cx="1554480" cy="1572768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1005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Kabsch SVD init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Dice+centroid loss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MMI polish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172200" y="2532888"/>
            <a:ext cx="0" cy="210312"/>
          </a:xfrm>
          <a:prstGeom prst="line">
            <a:avLst/>
          </a:prstGeom>
          <a:noFill/>
          <a:ln w="19050">
            <a:solidFill>
              <a:srgbClr val="1B786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32120" y="28803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80760" y="3456432"/>
            <a:ext cx="274320" cy="274320"/>
          </a:xfrm>
          <a:prstGeom prst="ellipse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80760" y="3456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772400" y="2651760"/>
            <a:ext cx="182880" cy="182880"/>
          </a:xfrm>
          <a:prstGeom prst="ellipse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223760" y="960120"/>
            <a:ext cx="1554480" cy="1572768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69480" y="1005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B-spline MMI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25mm grid spacing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 mask constrained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863840" y="2532888"/>
            <a:ext cx="0" cy="210312"/>
          </a:xfrm>
          <a:prstGeom prst="line">
            <a:avLst/>
          </a:prstGeom>
          <a:noFill/>
          <a:ln w="19050">
            <a:solidFill>
              <a:srgbClr val="1B786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23760" y="28803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Deformable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772400" y="3456432"/>
            <a:ext cx="274320" cy="274320"/>
          </a:xfrm>
          <a:prstGeom prst="ellipse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72400" y="3456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65760" y="3931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Eroded Dice + Centroid Displacement (mm) per organ, per phase, per stage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Z-Alignment Method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2679192"/>
            <a:ext cx="1097280" cy="0"/>
          </a:xfrm>
          <a:prstGeom prst="line">
            <a:avLst/>
          </a:prstGeom>
          <a:noFill/>
          <a:ln w="50800">
            <a:solidFill>
              <a:srgbClr val="EB8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679192"/>
            <a:ext cx="37490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Z-Alignment (v3)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" cy="4686300"/>
          </a:xfrm>
          <a:prstGeom prst="rect">
            <a:avLst/>
          </a:prstGeom>
          <a:solidFill>
            <a:srgbClr val="83E3DA"/>
          </a:solidFill>
          <a:ln w="12700">
            <a:solidFill>
              <a:srgbClr val="83E3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" y="2286000"/>
            <a:ext cx="2057400" cy="1828800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233172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centroid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mm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31720" y="5669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Z-Alignment is needed: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31720" y="9601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697480" y="96012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phases are acquired at different table positions → Z-coverage does not match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31720" y="135331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97480" y="1353312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find a common overlapping Z-window before any registration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331720" y="18745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(3D centroid matching):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331720" y="2304288"/>
            <a:ext cx="256032" cy="256032"/>
          </a:xfrm>
          <a:prstGeom prst="ellipse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31720" y="2304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0048" y="22860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weighted 3D physical centroid of anchor organs (liver w=3, spleen w=2, kidneys w=2) independently in NC and each moving phase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331720" y="2871216"/>
            <a:ext cx="256032" cy="256032"/>
          </a:xfrm>
          <a:prstGeom prst="ellipse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31720" y="28712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70048" y="285292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 outlier filter removes rogue organ centroids (unweighted median, floor 5mm)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331720" y="3438144"/>
            <a:ext cx="256032" cy="256032"/>
          </a:xfrm>
          <a:prstGeom prst="ellipse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31720" y="3438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70048" y="3419856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confidence ≥ 0.40 and |offset| ≤ 80mm → use 3D centroid offset; else fall back to per-series Z-centre crop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331720" y="4005072"/>
            <a:ext cx="256032" cy="256032"/>
          </a:xfrm>
          <a:prstGeom prst="ellipse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31720" y="4005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670048" y="3986784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all series to the common Z-overlap window with forced matching physical origins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Registration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2679192"/>
            <a:ext cx="1097280" cy="0"/>
          </a:xfrm>
          <a:prstGeom prst="line">
            <a:avLst/>
          </a:prstGeom>
          <a:noFill/>
          <a:ln w="50800">
            <a:solidFill>
              <a:srgbClr val="EB8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679192"/>
            <a:ext cx="37490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Registration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1444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0a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94560" y="502920"/>
            <a:ext cx="0" cy="4297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" y="2057400"/>
            <a:ext cx="2011680" cy="2651760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21031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Kabsch SVD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(Bone Only)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032" y="2651760"/>
            <a:ext cx="186537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Closed-form centroid alignment on vertebrae, ribs, spinal cord. Weighted SVD — instant, no iteration. Provides initialization for Pass 0b.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395728" y="1444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0b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07408" y="502920"/>
            <a:ext cx="0" cy="4297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5728" y="2057400"/>
            <a:ext cx="2011680" cy="2651760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21031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Kabsch SVD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Organs)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68880" y="2651760"/>
            <a:ext cx="186537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Kabsch to all stable organs: liver, spleen, kidneys, aorta, IVC, muscles. Weighted by organ reliability. Initializes Pass 1.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608576" y="1444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20256" y="502920"/>
            <a:ext cx="0" cy="4297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08576" y="2057400"/>
            <a:ext cx="2011680" cy="2651760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21031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+ Centroid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81728" y="2651760"/>
            <a:ext cx="186537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Nelder-Mead minimizing Σ wᵢ [centroid_dist + λ·(1−Dice)] / Σwᵢ. All organ data precomputed once (~100× speedup vs naive).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21424" y="1444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2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833104" y="502920"/>
            <a:ext cx="0" cy="4297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21424" y="2057400"/>
            <a:ext cx="2011680" cy="2651760"/>
          </a:xfrm>
          <a:prstGeom prst="rect">
            <a:avLst/>
          </a:prstGeom>
          <a:solidFill>
            <a:srgbClr val="D0D8D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94576" y="210312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MMI Polish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94576" y="2651760"/>
            <a:ext cx="186537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Mattes Mutual Information with organ mask. Currently gated — only applied when Pass 1 centroid error improves.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Segmentation-Based Loss?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" cy="4686300"/>
          </a:xfrm>
          <a:prstGeom prst="rect">
            <a:avLst/>
          </a:prstGeom>
          <a:solidFill>
            <a:srgbClr val="83E3DA"/>
          </a:solidFill>
          <a:ln w="12700">
            <a:solidFill>
              <a:srgbClr val="83E3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" y="1645920"/>
            <a:ext cx="2057400" cy="2377440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1691640"/>
            <a:ext cx="19202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Intensity-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metrics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across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anatomy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31720" y="5943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metrics are not valid across NCCT ↔ CECT: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331720" y="1078992"/>
            <a:ext cx="6492240" cy="658368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3160" y="11247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154680" y="11247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Invalid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423160" y="139903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stable joint histogram — contrast timing changes the histogram relationship between NCCT and CECT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331720" y="1856232"/>
            <a:ext cx="6492240" cy="658368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23160" y="1901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154680" y="1901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Invalid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423160" y="217627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fixed linear intensity relationship — contrast enhancement breaks this (aorta: 40→300 HU while surrounding tissue unchanged)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331720" y="2743200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Segmentation-Based Loss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331720" y="32004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786F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651760" y="320040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Anatomy-based</a:t>
            </a:r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segmentation masks are phase-agnostic — no HU assumptions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331720" y="36576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786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651760" y="365760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Eroded Dice</a:t>
            </a:r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measures shape overlap inside organs, independent of intensity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331720" y="41148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786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651760" y="411480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Centroid distance</a:t>
            </a:r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measures positional alignment in physical mm space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Deformable Registration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2679192"/>
            <a:ext cx="1097280" cy="0"/>
          </a:xfrm>
          <a:prstGeom prst="line">
            <a:avLst/>
          </a:prstGeom>
          <a:noFill/>
          <a:ln w="50800">
            <a:solidFill>
              <a:srgbClr val="EB8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679192"/>
            <a:ext cx="37490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Deformable Registration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65760" y="5669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808" y="5669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B-spline deformable registration applied after rigid alignment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tested: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786F"/>
                </a:solidFill>
              </a:rPr>
              <a:t>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8562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786F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18562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229514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786F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22951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B-spline (25mm grid spacing, LBFGSB optimizer)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273405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786F"/>
                </a:solidFill>
              </a:rPr>
              <a:t>○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27340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VoxelMorph (planned — future work)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Configuration: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37033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</a:rPr>
              <a:t>-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Mattes Mutual Information (50 histogram bins)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405079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</a:rPr>
              <a:t>-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40507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Mask: NC seg_reg organ mask (fixed) + dilated mask (moving, 12mm extra)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39826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</a:rPr>
              <a:t>-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1520" y="439826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LBFGSB · convergence tolerance 1e-5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" y="474573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73A"/>
                </a:solidFill>
              </a:rPr>
              <a:t>-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31520" y="474573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Multi-resolution: [4,2,1] shrink factors, smoothing [2.0, 1.0, 0.0] mm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2679192"/>
            <a:ext cx="1097280" cy="0"/>
          </a:xfrm>
          <a:prstGeom prst="line">
            <a:avLst/>
          </a:prstGeom>
          <a:noFill/>
          <a:ln w="50800">
            <a:solidFill>
              <a:srgbClr val="EB8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679192"/>
            <a:ext cx="37490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Phase-agnostic metrics — no HU assumptions, anatomy-based only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987552"/>
            <a:ext cx="3931920" cy="347472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87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Eroded Dice Coefficient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335024"/>
            <a:ext cx="3931920" cy="214884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173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3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|erode(M_fixed) ∩ erode(M_moving)|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3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3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|erode(M_fixed)| + |erode(M_moving)|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267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 (6mm):</a:t>
            </a:r>
            <a:pPr indent="0" marL="0"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removes boundary uncertainty from segmentation inaccuracies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633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Phase-agnostic:</a:t>
            </a:r>
            <a:pPr indent="0" marL="0"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measures shape overlap using masks, not HU values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2999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pPr indent="0" marL="0"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stable organs in seg_reg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987552"/>
            <a:ext cx="3931920" cy="347472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987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Centroid Displacement (mm)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1335024"/>
            <a:ext cx="3931920" cy="214884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 centroid_fixed − centroid_moving ‖₂  (mm)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2084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3D mask:</a:t>
            </a:r>
            <a:pPr indent="0" marL="0"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averaging over the whole volume is robust to boundary noise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37760" y="2450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scale:</a:t>
            </a:r>
            <a:pPr indent="0" marL="0"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5mm excellent · 5–10mm acceptable · &gt; 15mm failure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37760" y="28163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pPr indent="0" marL="0"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stable organs in seg_reg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3657600"/>
            <a:ext cx="8412480" cy="566928"/>
          </a:xfrm>
          <a:prstGeom prst="rect">
            <a:avLst/>
          </a:prstGeom>
          <a:solidFill>
            <a:srgbClr val="F5E6E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71246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NCC (Normalized Cross-Correlation) — EXCLUDED: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fixed linear intensity relationship between phases. Contrast enhancement breaks this — values become meaningless for NCCT ↔ CECT comparisons.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Mask Architecture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TotalSegmentator produces per-organ .nii.gz files → combined into two masks: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987552"/>
            <a:ext cx="4206240" cy="384048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87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seg_full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08960" y="9875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organs · bounding box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371600"/>
            <a:ext cx="4206240" cy="324612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" y="1499616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44475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Bones (labels 21–99)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vertebrae, ribs, sternum, hips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" y="2112264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20574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Stable soft (labels 1–20)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liver, spleen, kidneys, vessels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" y="2724912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" y="26700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Other soft (labels 100–149)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stomach, bladder, adrenals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" y="3337560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328269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 EXCLUDED entirely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(colon, bowel, rectum, duodenum)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" y="3950208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" y="389534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define abdominal crop box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00600" y="987552"/>
            <a:ext cx="4206240" cy="384048"/>
          </a:xfrm>
          <a:prstGeom prst="rect">
            <a:avLst/>
          </a:prstGeom>
          <a:solidFill>
            <a:srgbClr val="1B786F"/>
          </a:solidFill>
          <a:ln w="12700">
            <a:solidFill>
              <a:srgbClr val="1B78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987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seg_reg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543800" y="9875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only · registration metric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00600" y="1371600"/>
            <a:ext cx="4206240" cy="324612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10328" y="1499616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9784" y="144475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+ Tier 2 ONLY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910328" y="2112264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9784" y="20574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Bones: vertebrae, ribs, sternum,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hips, femurs, sacrum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910328" y="2724912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29784" y="26700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Soft: liver, spleen, kidneys,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aorta, IVC, muscles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910328" y="3337560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29784" y="328269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all registration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passes + evaluation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910328" y="3950208"/>
            <a:ext cx="146304" cy="146304"/>
          </a:xfrm>
          <a:prstGeom prst="ellipse">
            <a:avLst/>
          </a:prstGeom>
          <a:solidFill>
            <a:srgbClr val="429B92"/>
          </a:solidFill>
          <a:ln w="12700">
            <a:solidFill>
              <a:srgbClr val="429B9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9784" y="389534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are fixed integers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(not positional)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 excluded from both masks — too variable for registration (colon, small bowel, rectum, duodenum)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2679192"/>
            <a:ext cx="1097280" cy="0"/>
          </a:xfrm>
          <a:prstGeom prst="line">
            <a:avLst/>
          </a:prstGeom>
          <a:noFill/>
          <a:ln w="50800">
            <a:solidFill>
              <a:srgbClr val="EB8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679192"/>
            <a:ext cx="37490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2373A"/>
          </a:solidFill>
          <a:ln w="12700">
            <a:solidFill>
              <a:srgbClr val="2237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5720"/>
            <a:ext cx="5029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the segmentation-based metric across registration algorithms: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07899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" y="10789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12848" y="10789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Kabsch SVD + Dice+Centroid refinement — implemented and tested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59105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15910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212848" y="1591056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of rigid with shear/scale — implemented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210312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9808" y="21031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B-spline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212848" y="21031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25mm grid, LBFGSB optimizer — implemented and tested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261518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9808" y="26151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VoxelMorph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212848" y="2615184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Finetune and evaluate using the same eroded Dice + centroid metric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3218688"/>
            <a:ext cx="84124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3192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36758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49808" y="36758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full pipeline on corrected VinDr cohort (crop → Z-align → rigid → deformable)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" y="402336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9808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comparison: Dice + centroid per organ, per phase, per registration stage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5760" y="437083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9808" y="43708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study: baseline crop only vs +rigid vs +deformable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5760" y="471830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49808" y="47183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original goal: NCCT → CECT generation with properly aligned training pairs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633472"/>
            <a:ext cx="1097280" cy="0"/>
          </a:xfrm>
          <a:prstGeom prst="line">
            <a:avLst/>
          </a:prstGeom>
          <a:noFill/>
          <a:ln w="50800">
            <a:solidFill>
              <a:srgbClr val="EB80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633472"/>
            <a:ext cx="37490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2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Multi-Phase CT Registration Pipeline</dc:title>
  <dc:subject>PptxGenJS Presentation</dc:subject>
  <dc:creator>PptxGenJS</dc:creator>
  <cp:lastModifiedBy>PptxGenJS</cp:lastModifiedBy>
  <cp:revision>1</cp:revision>
  <dcterms:created xsi:type="dcterms:W3CDTF">2026-06-06T10:19:37Z</dcterms:created>
  <dcterms:modified xsi:type="dcterms:W3CDTF">2026-06-06T10:19:37Z</dcterms:modified>
</cp:coreProperties>
</file>